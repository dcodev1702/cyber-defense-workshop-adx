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00" r:id="rId2"/>
    <p:sldId id="301" r:id="rId3"/>
    <p:sldId id="302" r:id="rId4"/>
    <p:sldId id="303" r:id="rId5"/>
    <p:sldId id="304" r:id="rId6"/>
    <p:sldId id="305" r:id="rId7"/>
    <p:sldId id="306" r:id="rId8"/>
    <p:sldId id="307" r:id="rId9"/>
    <p:sldId id="308" r:id="rId10"/>
    <p:sldId id="309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19" r:id="rId21"/>
    <p:sldId id="320" r:id="rId22"/>
    <p:sldId id="321" r:id="rId23"/>
    <p:sldId id="322" r:id="rId24"/>
    <p:sldId id="323" r:id="rId25"/>
    <p:sldId id="324" r:id="rId26"/>
    <p:sldId id="325" r:id="rId27"/>
    <p:sldId id="326" r:id="rId28"/>
    <p:sldId id="327" r:id="rId29"/>
    <p:sldId id="328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120" y="41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46304" cy="1714500"/>
          </a:xfrm>
          <a:prstGeom prst="rect">
            <a:avLst/>
          </a:prstGeom>
          <a:solidFill>
            <a:srgbClr val="F25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0" y="1714500"/>
            <a:ext cx="146304" cy="1714500"/>
          </a:xfrm>
          <a:prstGeom prst="rect">
            <a:avLst/>
          </a:prstGeom>
          <a:solidFill>
            <a:srgbClr val="7F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3429000"/>
            <a:ext cx="146304" cy="1714500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0" y="5143500"/>
            <a:ext cx="146304" cy="171450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640080"/>
            <a:ext cx="107899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2000" b="1" i="0">
                <a:solidFill>
                  <a:srgbClr val="00B050"/>
                </a:solidFill>
                <a:latin typeface="Consolas"/>
                <a:cs typeface="Consolas"/>
              </a:rPr>
              <a:t>&gt;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 </a:t>
            </a:r>
            <a:r>
              <a:rPr lang="en-US" sz="2000" b="1" i="0">
                <a:solidFill>
                  <a:srgbClr val="00B0F0"/>
                </a:solidFill>
                <a:latin typeface="Consolas"/>
                <a:cs typeface="Consolas"/>
              </a:rPr>
              <a:t>USAG WIESBADEN 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CYBER</a:t>
            </a:r>
            <a:r>
              <a:rPr lang="en-US" sz="2000" b="1" i="0">
                <a:solidFill>
                  <a:srgbClr val="00B0F0"/>
                </a:solidFill>
                <a:latin typeface="Consolas"/>
                <a:cs typeface="Consolas"/>
              </a:rPr>
              <a:t> SUMMIT - CYBER</a:t>
            </a:r>
            <a:r>
              <a:rPr sz="2000" b="1" i="0">
                <a:solidFill>
                  <a:srgbClr val="00B0F0"/>
                </a:solidFill>
                <a:latin typeface="Consolas"/>
                <a:cs typeface="Consolas"/>
              </a:rPr>
              <a:t> DEFENSE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2837"/>
            <a:ext cx="10972800" cy="14978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E6EDF3"/>
                </a:solidFill>
                <a:latin typeface="Segoe UI"/>
                <a:cs typeface="Segoe UI"/>
              </a:rPr>
              <a:t>Cyber Defense with KQL</a:t>
            </a:r>
          </a:p>
          <a:p>
            <a:pPr>
              <a:spcAft>
                <a:spcPts val="400"/>
              </a:spcAft>
            </a:pPr>
            <a:r>
              <a:rPr sz="4000" b="1" i="0">
                <a:solidFill>
                  <a:srgbClr val="A9B2BD"/>
                </a:solidFill>
                <a:latin typeface="Segoe UI"/>
                <a:cs typeface="Segoe UI"/>
              </a:rPr>
              <a:t>in Azure Data Explorer</a:t>
            </a:r>
            <a:r>
              <a:rPr lang="en-US" sz="4000" b="1">
                <a:solidFill>
                  <a:srgbClr val="A9B2BD"/>
                </a:solidFill>
                <a:latin typeface="Segoe UI"/>
                <a:cs typeface="Segoe UI"/>
              </a:rPr>
              <a:t> (ADX)</a:t>
            </a:r>
            <a:endParaRPr sz="4000" b="1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3705816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A9B2BD"/>
                </a:solidFill>
                <a:latin typeface="Segoe UI"/>
                <a:cs typeface="Segoe UI"/>
              </a:rPr>
              <a:t>Investigate a live intrusion the way a Defender XDR analyst does — by writing queries against real telemetry, together.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5806440"/>
            <a:ext cx="10835640" cy="10972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5989320"/>
            <a:ext cx="10835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5989320"/>
            <a:ext cx="6035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1" i="0">
                <a:solidFill>
                  <a:srgbClr val="A9B2BD"/>
                </a:solidFill>
                <a:latin typeface="Consolas"/>
                <a:cs typeface="Consolas"/>
              </a:rPr>
              <a:t>INSTRUCTOR</a:t>
            </a:r>
            <a:r>
              <a:rPr lang="en-US" sz="1000" b="1" i="0">
                <a:solidFill>
                  <a:srgbClr val="A9B2BD"/>
                </a:solidFill>
                <a:latin typeface="Consolas"/>
                <a:cs typeface="Consolas"/>
              </a:rPr>
              <a:t>S</a:t>
            </a:r>
            <a:r>
              <a:rPr sz="1000" b="1" i="0">
                <a:solidFill>
                  <a:srgbClr val="A9B2BD"/>
                </a:solidFill>
                <a:latin typeface="Consolas"/>
                <a:cs typeface="Consolas"/>
              </a:rPr>
              <a:t>: LORENZO IRELAND</a:t>
            </a:r>
            <a:r>
              <a:rPr lang="en-US" sz="1000" b="1">
                <a:solidFill>
                  <a:srgbClr val="A9B2BD"/>
                </a:solidFill>
                <a:latin typeface="Consolas"/>
                <a:cs typeface="Consolas"/>
              </a:rPr>
              <a:t> &amp;</a:t>
            </a:r>
            <a:r>
              <a:rPr lang="en-US" sz="1000" b="1" i="0">
                <a:solidFill>
                  <a:srgbClr val="A9B2BD"/>
                </a:solidFill>
                <a:latin typeface="Consolas"/>
                <a:cs typeface="Consolas"/>
              </a:rPr>
              <a:t> ISAAC SANTIAGO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309360"/>
            <a:ext cx="60350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01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64B2830-31C5-06C0-00F4-C7087FF5D93F}"/>
              </a:ext>
            </a:extLst>
          </p:cNvPr>
          <p:cNvGrpSpPr/>
          <p:nvPr/>
        </p:nvGrpSpPr>
        <p:grpSpPr>
          <a:xfrm>
            <a:off x="621895" y="4389932"/>
            <a:ext cx="6740066" cy="1244600"/>
            <a:chOff x="621895" y="4389932"/>
            <a:chExt cx="6740066" cy="124460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5EC25C8A-469E-2FBE-125E-CA9917058F10}"/>
                </a:ext>
              </a:extLst>
            </p:cNvPr>
            <p:cNvSpPr/>
            <p:nvPr/>
          </p:nvSpPr>
          <p:spPr>
            <a:xfrm>
              <a:off x="640080" y="4389932"/>
              <a:ext cx="6721880" cy="1244600"/>
            </a:xfrm>
            <a:prstGeom prst="roundRect">
              <a:avLst/>
            </a:prstGeom>
            <a:solidFill>
              <a:srgbClr val="161B22"/>
            </a:solidFill>
            <a:ln w="9525">
              <a:solidFill>
                <a:srgbClr val="30363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10F5CBF-244B-CA62-1523-DFD0EE6C1969}"/>
                </a:ext>
              </a:extLst>
            </p:cNvPr>
            <p:cNvSpPr/>
            <p:nvPr/>
          </p:nvSpPr>
          <p:spPr>
            <a:xfrm>
              <a:off x="621895" y="4754474"/>
              <a:ext cx="6740066" cy="45719"/>
            </a:xfrm>
            <a:prstGeom prst="rect">
              <a:avLst/>
            </a:prstGeom>
            <a:solidFill>
              <a:srgbClr val="30363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AEC5991-46BC-51B8-6E4F-F170D38C9455}"/>
                </a:ext>
              </a:extLst>
            </p:cNvPr>
            <p:cNvGrpSpPr/>
            <p:nvPr/>
          </p:nvGrpSpPr>
          <p:grpSpPr>
            <a:xfrm>
              <a:off x="777240" y="4475428"/>
              <a:ext cx="495300" cy="114300"/>
              <a:chOff x="868680" y="4279900"/>
              <a:chExt cx="495300" cy="11430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202920C2-1FE4-D3A8-424D-FBCBFE4AA6CE}"/>
                  </a:ext>
                </a:extLst>
              </p:cNvPr>
              <p:cNvSpPr/>
              <p:nvPr/>
            </p:nvSpPr>
            <p:spPr>
              <a:xfrm>
                <a:off x="868680" y="4279900"/>
                <a:ext cx="114300" cy="114300"/>
              </a:xfrm>
              <a:prstGeom prst="rect">
                <a:avLst/>
              </a:prstGeom>
              <a:solidFill>
                <a:srgbClr val="F85149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0B63D9B-B660-A15B-7BA5-D955B54855A1}"/>
                  </a:ext>
                </a:extLst>
              </p:cNvPr>
              <p:cNvSpPr/>
              <p:nvPr/>
            </p:nvSpPr>
            <p:spPr>
              <a:xfrm>
                <a:off x="1059180" y="4279900"/>
                <a:ext cx="114300" cy="114300"/>
              </a:xfrm>
              <a:prstGeom prst="rect">
                <a:avLst/>
              </a:prstGeom>
              <a:solidFill>
                <a:srgbClr val="D29922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9224362-A672-4470-A35C-21874CF0BEF7}"/>
                  </a:ext>
                </a:extLst>
              </p:cNvPr>
              <p:cNvSpPr/>
              <p:nvPr/>
            </p:nvSpPr>
            <p:spPr>
              <a:xfrm>
                <a:off x="1249680" y="4279900"/>
                <a:ext cx="114300" cy="114300"/>
              </a:xfrm>
              <a:prstGeom prst="rect">
                <a:avLst/>
              </a:prstGeom>
              <a:solidFill>
                <a:srgbClr val="3FB950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784296" y="5011780"/>
            <a:ext cx="6740066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&gt; ./start --workshop cyber-defense-</a:t>
            </a:r>
            <a:r>
              <a:rPr sz="1300" b="0" i="0" dirty="0" err="1">
                <a:solidFill>
                  <a:srgbClr val="3FB950"/>
                </a:solidFill>
                <a:latin typeface="Consolas"/>
                <a:cs typeface="Consolas"/>
              </a:rPr>
              <a:t>kql</a:t>
            </a: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 --time </a:t>
            </a:r>
            <a:r>
              <a:rPr lang="en-US" sz="1300" b="0" i="0" dirty="0">
                <a:solidFill>
                  <a:srgbClr val="3FB950"/>
                </a:solidFill>
                <a:latin typeface="Consolas"/>
                <a:cs typeface="Consolas"/>
              </a:rPr>
              <a:t>2</a:t>
            </a:r>
            <a:r>
              <a:rPr lang="en-US" sz="1300" dirty="0">
                <a:solidFill>
                  <a:srgbClr val="3FB950"/>
                </a:solidFill>
                <a:latin typeface="Consolas"/>
                <a:cs typeface="Consolas"/>
              </a:rPr>
              <a:t>h</a:t>
            </a:r>
            <a:r>
              <a:rPr sz="1300" b="0" i="0" dirty="0">
                <a:solidFill>
                  <a:srgbClr val="3FB950"/>
                </a:solidFill>
                <a:latin typeface="Consolas"/>
                <a:cs typeface="Consolas"/>
              </a:rPr>
              <a:t> --mode instructor-led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02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00B050"/>
                </a:solidFill>
                <a:latin typeface="Consolas"/>
                <a:cs typeface="Consolas"/>
              </a:rPr>
              <a:t>WHOAMI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Your instructor for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this workshop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529768"/>
            <a:ext cx="4572000" cy="44805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114800" cy="12986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2600" b="1" i="0">
                <a:solidFill>
                  <a:srgbClr val="E6EDF3"/>
                </a:solidFill>
                <a:latin typeface="Segoe UI"/>
                <a:cs typeface="Segoe UI"/>
              </a:rPr>
              <a:t>Lorenzo </a:t>
            </a:r>
            <a:r>
              <a:rPr lang="en-US" sz="2600" b="1">
                <a:solidFill>
                  <a:srgbClr val="E6EDF3"/>
                </a:solidFill>
                <a:latin typeface="Segoe UI"/>
                <a:cs typeface="Segoe UI"/>
              </a:rPr>
              <a:t>J. Ireland</a:t>
            </a:r>
            <a:endParaRPr sz="2600" b="1" i="0">
              <a:solidFill>
                <a:srgbClr val="E6EDF3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0" i="0">
                <a:solidFill>
                  <a:srgbClr val="3FB950"/>
                </a:solidFill>
                <a:latin typeface="Segoe UI"/>
                <a:cs typeface="Segoe UI"/>
              </a:rPr>
              <a:t>Sr Cloud Solution Architect</a:t>
            </a:r>
            <a:r>
              <a:rPr lang="en-US" sz="1500">
                <a:solidFill>
                  <a:srgbClr val="3FB950"/>
                </a:solidFill>
                <a:latin typeface="Segoe UI"/>
                <a:cs typeface="Segoe UI"/>
              </a:rPr>
              <a:t> (AI+Security)</a:t>
            </a:r>
            <a:endParaRPr sz="1500" b="0" i="0">
              <a:solidFill>
                <a:srgbClr val="3FB950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Microsoft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 (European AOR)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Advanced Persistent DEfender</a:t>
            </a:r>
            <a:endParaRPr lang="en-US" sz="130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40690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8A93A0"/>
                </a:solidFill>
                <a:latin typeface="Consolas"/>
                <a:cs typeface="Consolas"/>
              </a:rPr>
              <a:t>$ focus --areas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Cloud &amp; hybrid identity (Entra ID)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Microsoft Defender XDR &amp; MDE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KQL threat hunting &amp; detection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›  Security architecture for gov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554480"/>
            <a:ext cx="6080760" cy="21488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0136" y="1719072"/>
            <a:ext cx="5660136" cy="11293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WHY I'M HERE TODAY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This is a hands-on, basic course — no prior KQL required.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We investigate one real-world-style intrusion end to end.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Hopefully, you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leave able to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orient on 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telemetry and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follow the kill chain w/ KQL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 goal isn't the answer — it's the method to reach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3840480"/>
            <a:ext cx="6080760" cy="21945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0136" y="4005072"/>
            <a:ext cx="5660136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HOW WE'LL 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Instructor-led — we run every query together, live.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You watch, then you type. Break things freely — ADX tells you where.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Fall behind? The story still makes sense at the next step.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Questions are the point. Interrupt early and often.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03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TODAY // 60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One operating rhythm: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 train</a:t>
            </a:r>
            <a:r>
              <a:rPr lang="en-US" sz="1300" b="0" i="0">
                <a:solidFill>
                  <a:srgbClr val="A9B2BD"/>
                </a:solidFill>
                <a:latin typeface="Segoe UI"/>
                <a:cs typeface="Segoe UI"/>
              </a:rPr>
              <a:t>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on 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tool, then use it to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find, fix,</a:t>
            </a:r>
            <a:r>
              <a:rPr lang="en-US" sz="1300" b="0" i="0">
                <a:solidFill>
                  <a:srgbClr val="A9B2BD"/>
                </a:solidFill>
                <a:latin typeface="Segoe UI"/>
                <a:cs typeface="Segoe UI"/>
              </a:rPr>
              <a:t>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and finish the adversary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1600200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3FB950"/>
                </a:solidFill>
                <a:latin typeface="Consolas"/>
                <a:cs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709928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KQL mental model, the lab, the kill chain, and the threat actor.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8440" y="1600200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3FB950"/>
                </a:solidFill>
                <a:latin typeface="Consolas"/>
                <a:cs typeface="Consolas"/>
              </a:rPr>
              <a:t>10m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2532888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F81F7"/>
                </a:solidFill>
                <a:latin typeface="Consolas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42616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CLOUD &amp;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532888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0-5: phish, device code, risky sign-in, OAuth consent, Graph.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78440" y="2532888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F81F7"/>
                </a:solidFill>
                <a:latin typeface="Consolas"/>
                <a:cs typeface="Consolas"/>
              </a:rPr>
              <a:t>15m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65576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3465576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A371F7"/>
                </a:solidFill>
                <a:latin typeface="Consolas"/>
                <a:cs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575304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ENDPOINT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465576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6-7: land on the host, watch the credential-access playbook.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3465576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371F7"/>
                </a:solidFill>
                <a:latin typeface="Consolas"/>
                <a:cs typeface="Consolas"/>
              </a:rPr>
              <a:t>15m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98264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9808" y="4398264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29922"/>
                </a:solidFill>
                <a:latin typeface="Consolas"/>
                <a:cs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507992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PIVOT &amp; CORRELATE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398264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Acts 8-12: Kerberoast, hybrid pivot, cloud exfil, threat intel, XDR.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440" y="4398264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29922"/>
                </a:solidFill>
                <a:latin typeface="Consolas"/>
                <a:cs typeface="Consolas"/>
              </a:rPr>
              <a:t>15m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330952"/>
            <a:ext cx="10972800" cy="841248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5330952"/>
            <a:ext cx="82296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85149"/>
                </a:solidFill>
                <a:latin typeface="Consolas"/>
                <a:cs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44068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E6EDF3"/>
                </a:solidFill>
                <a:latin typeface="Consolas"/>
                <a:cs typeface="Consolas"/>
              </a:rPr>
              <a:t>DEBRIEF &amp; NEXT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5330952"/>
            <a:ext cx="566928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A9B2BD"/>
                </a:solidFill>
                <a:latin typeface="Segoe UI"/>
                <a:cs typeface="Segoe UI"/>
              </a:rPr>
              <a:t>What was decisive → SOAR, detection engineering, enhanced defense.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78440" y="5330952"/>
            <a:ext cx="1005840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85149"/>
                </a:solidFill>
                <a:latin typeface="Consolas"/>
                <a:cs typeface="Consolas"/>
              </a:rPr>
              <a:t>5m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04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By the end of the hour, you can do these five things unaided.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READ KQL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Navigate Defender &amp; Entra tables in ADX — filter, project, summarize, join.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44768" y="164592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64224" y="181051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CORRELATE TELEMETRY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Connect endpoint, identity, cloud, Graph, and alert evidence across tables.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7180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" y="313639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PIVOT AN INVESTIGATION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Anchor on user / IP / time and chase the attacker through the data.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297180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313639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MAP TO FRAMEWORKS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Place each finding on the Cyber Kill Chain and MITRE ATT&amp;CK.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9768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" y="446227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85149"/>
                </a:solidFill>
                <a:latin typeface="Consolas"/>
                <a:cs typeface="Consolas"/>
              </a:rPr>
              <a:t>BUILD A TIMELINE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85149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Assemble a defensible incident narrative from first signal to impact.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297680"/>
            <a:ext cx="5394960" cy="11887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64224" y="4462272"/>
            <a:ext cx="4974336" cy="8961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ONE HABIT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“Start broad, project narrow, summarize, join, build the timeline.”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05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KQL 101 // THE MENTAL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Data flows through a pipeline, one operator at a time — like Linux pipes.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5943600" cy="22860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55412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the 5 operators you use most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5522976" cy="9718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 1 start with a table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FileName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"mimikatz.exe"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2 filter rows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3 pick cols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summarize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()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4 aggregate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Count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5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600200"/>
            <a:ext cx="4892040" cy="22860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48856" y="1764792"/>
            <a:ext cx="4471416" cy="1603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SYNTAX YOU NEED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|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==  exactly equals (case-sensitive)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=~  equals, case-insensitive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has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| contains: contains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the whole word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in~ ("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a","b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")  in this list, any case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let  name a query and reuse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4041648"/>
            <a:ext cx="10972800" cy="19659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4206240"/>
            <a:ext cx="10552176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MODEL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 table is a giant list of rows (DeviceProcessEvents is a table).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 pipe | hands all rows from one step to the next.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 operator transforms them: where (filter), project (columns), summarize (count), order by (sort).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ADX is forgiving — a typo tells you exactly what's wrong and where. Don't be afraid to break things.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06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TERRAIN // LAB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Synthetic Microsoft security telemetry — a realistic hybrid estate, no production risk.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2087393"/>
            <a:ext cx="2084831" cy="83612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85149"/>
                </a:solidFill>
                <a:latin typeface="Consolas"/>
                <a:cs typeface="Consolas"/>
              </a:rPr>
              <a:t>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Domain Controllers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MDI · AssetValue High</a:t>
            </a:r>
          </a:p>
        </p:txBody>
      </p:sp>
      <p:sp>
        <p:nvSpPr>
          <p:cNvPr id="9" name="Rectangle 8"/>
          <p:cNvSpPr/>
          <p:nvPr/>
        </p:nvSpPr>
        <p:spPr>
          <a:xfrm>
            <a:off x="276148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6148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85149"/>
                </a:solidFill>
                <a:latin typeface="Consolas"/>
                <a:cs typeface="Consolas"/>
              </a:rPr>
              <a:t>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Entra Connect 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Identity Tier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5604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604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81F7"/>
                </a:solidFill>
                <a:latin typeface="Consolas"/>
                <a:cs typeface="Consolas"/>
              </a:rPr>
              <a:t>10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Windows 11 25H2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F81F7"/>
                </a:solidFill>
                <a:latin typeface="Consolas"/>
                <a:cs typeface="Consolas"/>
              </a:rPr>
              <a:t>endpoints · MDE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691640"/>
            <a:ext cx="2084831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50608" y="1837944"/>
            <a:ext cx="2084831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A371F7"/>
                </a:solidFill>
                <a:latin typeface="Consolas"/>
                <a:cs typeface="Consolas"/>
              </a:rPr>
              <a:t>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Ubuntu servers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371F7"/>
                </a:solidFill>
                <a:latin typeface="Consolas"/>
                <a:cs typeface="Consolas"/>
              </a:rPr>
              <a:t>endpoints · MDE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1691640"/>
            <a:ext cx="2194560" cy="15544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45168" y="1837944"/>
            <a:ext cx="2194560" cy="1335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Hybrid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9B2BD"/>
                </a:solidFill>
                <a:latin typeface="Segoe UI"/>
                <a:cs typeface="Segoe UI"/>
              </a:rPr>
              <a:t>Entra ID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cloud + on-prem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74720"/>
            <a:ext cx="5486400" cy="24231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3639312"/>
            <a:ext cx="5065776" cy="2130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THE CROWN JEWELS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Domain Controllers (×2) — can mint any Kerberos ticket.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AADCONNECT01 — the Entra Connect server. It syncs passwords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to the cloud, so owning it bridges on-prem AD and Entra ID.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Nothing in this lab is internet-facing — verify that yourself (Stretch).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Everything else (workstations, Linux) is a stepping stone to these.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474720"/>
            <a:ext cx="5367528" cy="24231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91656" y="3639312"/>
            <a:ext cx="4946904" cy="1397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TABLE FAMILIES YOU'LL EMPLOY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 EmailEvents / EmailUrlInfo / UrlClickEvents — Defender for Office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 DeviceProcessEvents / DeviceLogonEvents / SecurityEvent — endpoint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 SigninLogs / EntraIdSignInEvents / IdentityQueryEvents — identity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 CloudAppEvents / GraphAPIAuditEvents / AzureActivity — cloud &amp; Graph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 ThreatIntelIndicators / SecurityIncident / AlertEvidence — TI &amp; cases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07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KILL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Lockheed Martin's 7 stages — our map for where the attacker is, and where we hunt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1920240"/>
            <a:ext cx="138205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 dirty="0">
                <a:solidFill>
                  <a:schemeClr val="accent6"/>
                </a:solidFill>
                <a:latin typeface="Consolas"/>
                <a:cs typeface="Consolas"/>
              </a:rPr>
              <a:t>1 RECON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Target USAG Cyber, pick Victor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2130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50146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95866" y="1920240"/>
            <a:ext cx="138205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 dirty="0">
                <a:solidFill>
                  <a:schemeClr val="accent3">
                    <a:lumMod val="75000"/>
                  </a:schemeClr>
                </a:solidFill>
                <a:latin typeface="Consolas"/>
                <a:cs typeface="Consolas"/>
              </a:rPr>
              <a:t>2 WEAPONIZE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3298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Malicious OAuth app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5348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3364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79084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81F7"/>
                </a:solidFill>
                <a:latin typeface="Consolas"/>
                <a:cs typeface="Consolas"/>
              </a:rPr>
              <a:t>3 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6516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Phishing → risky sign-in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8566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16582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62302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81F7"/>
                </a:solidFill>
                <a:latin typeface="Consolas"/>
                <a:cs typeface="Consolas"/>
              </a:rPr>
              <a:t>4 EXPLOIT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9734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Compromised token /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1785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9801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45521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371F7"/>
                </a:solidFill>
                <a:latin typeface="Consolas"/>
                <a:cs typeface="Consolas"/>
              </a:rPr>
              <a:t>5 INSTALL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2953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OAuth consent + SP credential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5003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83019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28739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371F7"/>
                </a:solidFill>
                <a:latin typeface="Consolas"/>
                <a:cs typeface="Consolas"/>
              </a:rPr>
              <a:t>6 C2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6171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Graph API via app identity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38221" y="2514600"/>
            <a:ext cx="1463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66237" y="1783080"/>
            <a:ext cx="1473490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11957" y="1920240"/>
            <a:ext cx="13820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85149"/>
                </a:solidFill>
                <a:latin typeface="Consolas"/>
                <a:cs typeface="Consolas"/>
              </a:rPr>
              <a:t>7 ACTIONS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39389" y="2606040"/>
            <a:ext cx="132718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A9B2BD"/>
                </a:solidFill>
                <a:latin typeface="Segoe UI"/>
                <a:cs typeface="Segoe UI"/>
              </a:rPr>
              <a:t>Creds → Kerberoast → pivot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14800"/>
            <a:ext cx="10972800" cy="17830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6384" y="4279392"/>
            <a:ext cx="10552176" cy="1490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READ IT LEFT TO RIGHT — BUT WE HUNT RIGHT TO LEFT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In the cloud, identity is the new perimeter — the identity provider (Entra ID) sees the attacker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first, before any endpoint does. So our investigation starts at Delivery/Exploitation (the risky sign-in)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and works outward: cloud → identity → endpoint → back to identity (Kerberoast) → hybrid pivot → XDR.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08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THREAT ACTOR // MIDNIGHT BLIZZARD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APT29 / Cozy Bear — attributed to Russia's SVR. Emulated tradecraft, synthetic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5577840" cy="425196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10512"/>
            <a:ext cx="5157216" cy="3959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THE SCENARIO, IN ONE BREATH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Victor Alvarez receives a device-code phishing email. The lure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carries the genuine microsoft.com/devicelogin URL, so no mail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filter blocks it. He completes real MFA and hands the attacker 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already-authenticated token. They consent a malicious OAuth app,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enumerate Graph, pivot to WIN11-04 for a credential-access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playbook, Kerberoast, reach the Entra Connect server, and finish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by listing storage keys and reading mail.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276088" cy="20116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83096" y="1810512"/>
            <a:ext cx="4855464" cy="1719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ANCHOR IDENTIFIERS — WRITE THESE DOWN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User:   victor.alvarez@usag-cyber.local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IP:     185.225.73.18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Host:   WIN11-04.usag-cyber.local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Target: AADCONNECT01  (Entra Connect)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Benign twin: alice.weber  198.51.100.50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94760"/>
            <a:ext cx="5276088" cy="210312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83096" y="3959352"/>
            <a:ext cx="4855464" cy="18105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THE SIGNATURE PATTERN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device-code phish → token theft → OAuth consent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→ Graph enumeration → hybrid pivot → cloud exfiltration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MFA was satisfied. OAuth persistence survives a password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reset. That is why identity-first response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09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analyst's first habit: anchor on identifiers, then let the data pull you forward.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66928" y="1691640"/>
            <a:ext cx="82296" cy="786384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3FB950"/>
                </a:solidFill>
                <a:latin typeface="Consolas"/>
                <a:cs typeface="Consolas"/>
              </a:rPr>
              <a:t>START BROAD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Inventory what telemetry exists before chasing anything.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69464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569464"/>
            <a:ext cx="82296" cy="786384"/>
          </a:xfrm>
          <a:prstGeom prst="rect">
            <a:avLst/>
          </a:prstGeom>
          <a:solidFill>
            <a:srgbClr val="2F8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69464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81F7"/>
                </a:solidFill>
                <a:latin typeface="Consolas"/>
                <a:cs typeface="Consolas"/>
              </a:rPr>
              <a:t>PROJECT NARROW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69464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Show only the columns that matter for triage — never project *.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47288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6928" y="3447288"/>
            <a:ext cx="82296" cy="786384"/>
          </a:xfrm>
          <a:prstGeom prst="rect">
            <a:avLst/>
          </a:prstGeom>
          <a:solidFill>
            <a:srgbClr val="A37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447288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SUMMARIZE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47288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Collapse rows into counts and sets to see the shape.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25112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6928" y="4325112"/>
            <a:ext cx="82296" cy="786384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325112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D29922"/>
                </a:solidFill>
                <a:latin typeface="Consolas"/>
                <a:cs typeface="Consolas"/>
              </a:rPr>
              <a:t>PIVOT WITH 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325112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Capture an identifier (IP, user) and filter other tables by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02936"/>
            <a:ext cx="10972800" cy="786384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928" y="5202936"/>
            <a:ext cx="82296" cy="786384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5202936"/>
            <a:ext cx="365760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BUILD THE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202936"/>
            <a:ext cx="67665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A9B2BD"/>
                </a:solidFill>
                <a:latin typeface="Segoe UI"/>
                <a:cs typeface="Segoe UI"/>
              </a:rPr>
              <a:t>order by time asc — read the story in the order it happened.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10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0 // ARE WE CONNECTED?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Before anything else — confirm you can see all ten tables. Run it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union withsource=TableName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EmailEvents, UrlClickEvents, SigninLogs, EntraIdSignInEvents,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CloudAppEvents, GraphAPIAuditEvents, DeviceProcessEvents,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SecurityEvent, IdentityQueryEvents, AzureActivity,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ThreatIntelIndicators, SecurityIncident, AlertInfo, AlertEvidence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summarize Rows = count() by TableName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order by TableName 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Fourteen rows back — one per table,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each with a row count. The database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holds 79 tables in total.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Zero rows or an error? Raise your hand.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union stacks tables; withsource tags each row's origin.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Then we count by table to inventory the estate.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961948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8522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PREP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56892" y="5029200"/>
            <a:ext cx="328269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11756" y="5029200"/>
            <a:ext cx="21854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13178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68042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79 tables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11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2800" b="1" i="0">
                <a:solidFill>
                  <a:srgbClr val="E6EDF3"/>
                </a:solidFill>
                <a:latin typeface="Consolas"/>
                <a:cs typeface="Consolas"/>
              </a:rPr>
              <a:t>ACT 1 // KNOW YOUR TERRAIN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Where do hosts live? What's high value? Understand the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 cyber terrain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 before </a:t>
            </a:r>
            <a:r>
              <a:rPr lang="en-US" sz="1300">
                <a:solidFill>
                  <a:srgbClr val="A9B2BD"/>
                </a:solidFill>
                <a:latin typeface="Segoe UI"/>
                <a:cs typeface="Segoe UI"/>
              </a:rPr>
              <a:t>we maneuver through information</a:t>
            </a: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DeviceInfo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summarize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Hosts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dcount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DeviceId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make_set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100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OSPlatform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MachineGroup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AssetValue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AssetValue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Hosts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desc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dirty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E6EDF3"/>
                </a:solidFill>
                <a:latin typeface="Segoe UI"/>
                <a:cs typeface="Segoe UI"/>
              </a:rPr>
              <a:t>2 DCs + 1 Entra Connect = crown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jewels (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AssetValue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High / Tier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10 Win11 workstations, 5 Ubuntu.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123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dirty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150" b="1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 dirty="0">
                <a:solidFill>
                  <a:srgbClr val="A9B2BD"/>
                </a:solidFill>
                <a:latin typeface="Segoe UI"/>
                <a:cs typeface="Segoe UI"/>
              </a:rPr>
              <a:t>You can’t defend what you don’t see (Asset Inventory)</a:t>
            </a:r>
            <a:endParaRPr lang="en-US" sz="1150" b="1" i="0" dirty="0">
              <a:solidFill>
                <a:srgbClr val="A371F7"/>
              </a:solidFill>
              <a:latin typeface="Segoe UI"/>
              <a:cs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dcount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= distinct count (unique, not total).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dirty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 dirty="0" err="1">
                <a:solidFill>
                  <a:srgbClr val="A9B2BD"/>
                </a:solidFill>
                <a:latin typeface="Segoe UI"/>
                <a:cs typeface="Segoe UI"/>
              </a:rPr>
              <a:t>make_set</a:t>
            </a:r>
            <a:r>
              <a:rPr sz="1150" b="0" i="0" dirty="0">
                <a:solidFill>
                  <a:srgbClr val="A9B2BD"/>
                </a:solidFill>
                <a:latin typeface="Segoe UI"/>
                <a:cs typeface="Segoe UI"/>
              </a:rPr>
              <a:t> collects the actual names, not just a number.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RECON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57476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12340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08452" y="5029200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63316" y="5029200"/>
            <a:ext cx="104241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DeviceInfo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12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2 // THE DEVICE-CODE PHISH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Before the sign-in there was an email. This is the delivery mechanism — and the URL you cannot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● ●  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let PhishId = toscalar(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EmailEvents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| where RecipientEmailAddress startswith "victor.alvarez"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and Subject has "verify your device"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| top 1 by Timestamp asc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| project NetworkMessageId);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EmailUrlInfo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where NetworkMessageId == PhishId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project Timestamp, Url, UrlDomain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Two URLs in one lure. One is the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attacker's portal. The other is the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genuine microsoft.com/devicelogin.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You cannot block the Microsoft URL — that is why this works.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ZAP quarantines the mail, but only after the token is issued.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32405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21432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8995" y="5029200"/>
            <a:ext cx="69037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73859" y="5029200"/>
            <a:ext cx="58064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T1566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37383" y="5029200"/>
            <a:ext cx="123352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92247" y="5029200"/>
            <a:ext cx="112379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EmailEvents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8924" y="5029200"/>
            <a:ext cx="132405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53788" y="5029200"/>
            <a:ext cx="121432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EmailUrlInfo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13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3 // FIND THE SUSPICIOUS SIGN-IN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intrusion starts in the cloud. Identity sees the attacker first — so we start there.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SigninLogs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IsRisky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true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RiskLevelDuringSignIn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in~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"high"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"medium"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UserPrincipalName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AppDisplayName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RiskLevelDuringSignIn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RiskState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UserAgent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655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One row: </a:t>
            </a:r>
            <a:r>
              <a:rPr sz="1150" b="0" i="0" err="1">
                <a:solidFill>
                  <a:srgbClr val="E6EDF3"/>
                </a:solidFill>
                <a:latin typeface="Segoe UI"/>
                <a:cs typeface="Segoe UI"/>
              </a:rPr>
              <a:t>victor.alvarez@</a:t>
            </a:r>
            <a:r>
              <a:rPr lang="en-US" sz="1150" err="1">
                <a:solidFill>
                  <a:srgbClr val="E6EDF3"/>
                </a:solidFill>
                <a:latin typeface="Segoe UI"/>
                <a:cs typeface="Segoe UI"/>
              </a:rPr>
              <a:t>usag-</a:t>
            </a:r>
            <a:r>
              <a:rPr lang="en-US" sz="1150" err="1">
                <a:solidFill>
                  <a:srgbClr val="D29922"/>
                </a:solidFill>
                <a:latin typeface="Segoe UI"/>
                <a:cs typeface="Segoe UI"/>
              </a:rPr>
              <a:t>cyber</a:t>
            </a:r>
            <a:r>
              <a:rPr sz="1150" b="0" i="0" err="1">
                <a:solidFill>
                  <a:srgbClr val="D29922"/>
                </a:solidFill>
                <a:latin typeface="Segoe UI"/>
                <a:cs typeface="Segoe UI"/>
              </a:rPr>
              <a:t>.local</a:t>
            </a: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 from 185.225.73.18,</a:t>
            </a:r>
            <a:endParaRPr/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risk level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: </a:t>
            </a:r>
            <a:r>
              <a:rPr lang="en-US" sz="1150" b="1">
                <a:solidFill>
                  <a:schemeClr val="accent6"/>
                </a:solidFill>
                <a:latin typeface="Segoe UI"/>
                <a:cs typeface="Segoe UI"/>
              </a:rPr>
              <a:t>HIGH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8610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Entra ID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P2 Identity Protection flags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risky sign-ins for us — we just ask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 the telemetry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Anchor on user + IP + time. Every next query starts here.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331366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22163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26310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81174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T1078.004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1685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7172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T1110.003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5029200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62272" y="5111551"/>
            <a:ext cx="10424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SigninLogs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14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4 // THE BENIGN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Two device-code sign-ins, same technique, minutes apart. Only one is an attack. Prove which.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● ●  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EntraIdSignInEvents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 where LogonType =~ "deviceCode"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 extend RiskLevel = case(RiskLevelAggregated &gt;= 100, "high",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      RiskLevelAggregated &gt;= 50, "medium",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      RiskLevelAggregated &gt;= 10, "low", "none")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 project Timestamp, AccountUpn, IPAddress, Country,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      DeviceTrustType, IsCompliant, RiskLevel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 order by Timestamp 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655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alice.weber — compliant, Azure AD</a:t>
            </a:r>
            <a:endParaRPr/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joined, risk none. Benign.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victor.alvarez — unmanaged, risk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high, from 185.225.73.18.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8610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Alerting on the protocol alone flags Alice too.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Defender stores risk as ints: 0, 10, 50, 100.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Evidence decides the verdict, not the technique.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3352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2379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EXPLOIT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8469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83333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T1078.004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63824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T1550.001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9450" y="5029200"/>
            <a:ext cx="195773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44314" y="5111551"/>
            <a:ext cx="1848002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EntraIdSignInEvents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15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5 // FOLLOW THE IP → OAUTH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same IP did more than sign in. Capture it with let, then hunt OAuth consent.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let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suspiciousIp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SigninLogs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IsRisky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==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true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top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1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TimeGenerated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;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CloudAppEvents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IPAddress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suspiciousIp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AccountDisplayName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ActionType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ObjectName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OAuthAppId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OAuthAppConsentGranted for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“USAG Cyber Sync Helper” — scopes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Mail.Read, Files.Read.All, offline_access.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let pivots without hard-coding the IP.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200" b="1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 err="1">
                <a:solidFill>
                  <a:srgbClr val="A9B2BD"/>
                </a:solidFill>
                <a:latin typeface="Segoe UI"/>
                <a:cs typeface="Segoe UI"/>
              </a:rPr>
              <a:t>OAuthApp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 doesn't require user delegation.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This backdoor app survives a password reset.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endParaRPr lang="en-US" sz="115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INSTALL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T1528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7675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42539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T1098.001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510588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029200"/>
            <a:ext cx="14008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CloudAppEvents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16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5 // GRAPH + PERSISTENCE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What did the app touch, and how did it become durable? Reuse suspiciousIp to find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two queries · run in sequence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1">
                <a:solidFill>
                  <a:srgbClr val="8A93A0"/>
                </a:solidFill>
                <a:latin typeface="Consolas"/>
                <a:cs typeface="Consolas"/>
              </a:rPr>
              <a:t>// Graph calls from the same 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GraphAPIAuditEvents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where IpAddress in (suspiciousIp)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project Timestamp, RequestMethod, RequestUri, Scopes,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    ResponseStatusCode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order by Timestamp asc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// Prove the service-principal credential add</a:t>
            </a:r>
            <a:endParaRPr sz="1150" b="0" i="0">
              <a:solidFill>
                <a:srgbClr val="3FB950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AuditLogs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where OperationName has_any ("Consent to application",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    "service principal credentials")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The app reads Victor's mailbox,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OneDrive root, and the tenant user list.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Then a new SP credential is added 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app-only access, no human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OAuth consent → SP credential = persistence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 attacker keeps even after a reset.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686153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576425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C2 / COLLECT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81097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35961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T1114.002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1588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16452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T1550.001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42078" y="5029200"/>
            <a:ext cx="195773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96942" y="5029200"/>
            <a:ext cx="184800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GraphAPIAuditEvents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27824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82688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AuditLogs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17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6 // LAND ON THE ENDPOINT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Cloud access became a foothold. What did Victor's workstation actually run?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"WIN11-04"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FileName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ProcessCommandLine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InitiatingProcessFileName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Tooling staged under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D29922"/>
                </a:solidFill>
                <a:latin typeface="Segoe UI"/>
                <a:cs typeface="Segoe UI"/>
              </a:rPr>
              <a:t>C:\ProgramData\wrstage,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then execution begins on the host.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Cloud identity compromise just became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endpoint execution — MDE is now our lens.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T1105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7675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42539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T1059.001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111551"/>
            <a:ext cx="18489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DeviceProcessEvents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18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7 // THE CREDENTIAL-ACCESS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This is the heart of it — watch the classic credential-theft playbook unfold in order.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273" y="2075688"/>
            <a:ext cx="6237563" cy="9718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DeviceProcessEvents</a:t>
            </a:r>
            <a:endParaRPr lang="en-US" sz="1150" b="0" i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"WIN11-04"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lang="en-US" sz="1100" b="0" i="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AccountName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569CD6"/>
                </a:solidFill>
                <a:highlight>
                  <a:srgbClr val="1B1A19"/>
                </a:highlight>
                <a:latin typeface="Consolas"/>
                <a:cs typeface="Consolas"/>
              </a:rPr>
              <a:t>contains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69D85"/>
                </a:solidFill>
                <a:highlight>
                  <a:srgbClr val="1B1A19"/>
                </a:highlight>
                <a:latin typeface="Consolas"/>
                <a:cs typeface="Consolas"/>
              </a:rPr>
              <a:t>'victor'</a:t>
            </a:r>
            <a:endParaRPr lang="en-US" sz="1100" b="0" i="0">
              <a:solidFill>
                <a:srgbClr val="D69D85"/>
              </a:solidFill>
              <a:highlight>
                <a:srgbClr val="1B1A19"/>
              </a:highlight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Timestamp, </a:t>
            </a:r>
            <a:r>
              <a:rPr sz="1100" err="1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FileName</a:t>
            </a:r>
            <a:r>
              <a:rPr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, ProcessCommandLine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</a:rPr>
              <a:t>,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AccountName,</a:t>
            </a:r>
            <a:r>
              <a:rPr lang="en-US" sz="1100">
                <a:solidFill>
                  <a:srgbClr val="F44747"/>
                </a:solidFill>
                <a:highlight>
                  <a:srgbClr val="1B1A19"/>
                </a:highlight>
                <a:latin typeface="Consolas"/>
                <a:cs typeface="Consolas"/>
              </a:rPr>
              <a:t> </a:t>
            </a:r>
            <a:r>
              <a:rPr lang="en-US" sz="1100">
                <a:solidFill>
                  <a:srgbClr val="DB7093"/>
                </a:solidFill>
                <a:highlight>
                  <a:srgbClr val="1B1A19"/>
                </a:highlight>
                <a:latin typeface="Consolas"/>
                <a:cs typeface="Consolas"/>
              </a:rPr>
              <a:t>AccountObjectId</a:t>
            </a:r>
            <a:endParaRPr lang="en-US" sz="115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  <a:endParaRPr sz="1150" b="0" i="0">
              <a:solidFill>
                <a:srgbClr val="3FB950"/>
              </a:solidFill>
              <a:latin typeface="Consolas"/>
              <a:cs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Registry &amp; SAM hive, LSASS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dump, browser + password stores,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then Mimikatz — in sequence.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Each tool = a different credential store.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Technique matters more than tool name.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T1003.002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7248" y="5029200"/>
            <a:ext cx="82296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82112" y="5029200"/>
            <a:ext cx="71323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088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T1003.001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8772" y="5029200"/>
            <a:ext cx="195864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23636" y="5111551"/>
            <a:ext cx="1848916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DeviceProcessEvents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19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8 // KERBEROASTING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Endpoint telemetry cannot explain service-account targeting. Identity and Windows auditing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1170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union</a:t>
            </a:r>
            <a:endParaRPr lang="en-US"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(IdentityQueryEvents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 | where Query has "servicePrincipalName"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 | extend Src = "MDI"),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(SecurityEvent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 | where EventID in (4768, 4769)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   | extend Timestamp = TimeGenerated, Src = "Windows")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| project Timestamp, Src, AccountName, ServiceName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dirty="0">
                <a:solidFill>
                  <a:srgbClr val="3FB950"/>
                </a:solidFill>
                <a:latin typeface="Consolas"/>
                <a:cs typeface="Consolas"/>
              </a:rPr>
              <a:t>| order by Timestamp 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LDAP queries enumerating service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principal names, then a burst 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4769 service-ticket requests for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the same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4212561" cy="12304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Two independent sources agreeing beats one alone.</a:t>
            </a:r>
          </a:p>
          <a:p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Many service tickets, one account, short window.</a:t>
            </a:r>
            <a:endParaRPr lang="en-US" sz="1200">
              <a:solidFill>
                <a:srgbClr val="000000"/>
              </a:solidFill>
              <a:latin typeface="Segoe UI"/>
              <a:cs typeface="Segoe UI"/>
            </a:endParaRP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That burst is the behavioural signature.</a:t>
            </a:r>
            <a:endParaRPr lang="en-US" sz="115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3352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2379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8469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83333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T1558.003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5029200"/>
            <a:ext cx="195773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63824" y="5111551"/>
            <a:ext cx="1848002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IdentityQueryEvents</a:t>
            </a:r>
            <a:endParaRPr lang="en-US" sz="950" b="1" i="0">
              <a:solidFill>
                <a:srgbClr val="D29922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20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9 // HYBRID IDENTITY PIVOT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The cracked service-account hash reaches the crown jewel. This is the dangerous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13691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DeviceLogonEvents</a:t>
            </a:r>
            <a:endParaRPr lang="en-US" sz="1150" b="0" i="0" err="1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"AADCONNECT01"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has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 err="1">
                <a:solidFill>
                  <a:srgbClr val="D29922"/>
                </a:solidFill>
                <a:latin typeface="Consolas"/>
                <a:cs typeface="Consolas"/>
              </a:rPr>
              <a:t>svc_sql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where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LogonType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in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 err="1">
                <a:solidFill>
                  <a:srgbClr val="D29922"/>
                </a:solidFill>
                <a:latin typeface="Consolas"/>
                <a:cs typeface="Consolas"/>
              </a:rPr>
              <a:t>RemoteInteractive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D29922"/>
                </a:solidFill>
                <a:latin typeface="Consolas"/>
                <a:cs typeface="Consolas"/>
              </a:rPr>
              <a:t>"Network"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project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lang="en-US" sz="1150">
                <a:solidFill>
                  <a:srgbClr val="A9B2BD"/>
                </a:solidFill>
                <a:latin typeface="Consolas"/>
                <a:cs typeface="Consolas"/>
              </a:rPr>
              <a:t> </a:t>
            </a:r>
            <a:r>
              <a:rPr lang="en-US" sz="1150" err="1">
                <a:solidFill>
                  <a:srgbClr val="2F81F7"/>
                </a:solidFill>
                <a:latin typeface="Consolas"/>
              </a:rPr>
              <a:t>ActionType</a:t>
            </a:r>
            <a:r>
              <a:rPr lang="en-US" sz="1150">
                <a:solidFill>
                  <a:srgbClr val="2F81F7"/>
                </a:solidFill>
                <a:latin typeface="Consolas"/>
              </a:rPr>
              <a:t>, Protocol,</a:t>
            </a:r>
            <a:endParaRPr sz="1150">
              <a:solidFill>
                <a:srgbClr val="2F81F7"/>
              </a:solidFill>
              <a:latin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LogonType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RemoteDeviceName</a:t>
            </a:r>
            <a:r>
              <a:rPr sz="1150" b="0" i="0">
                <a:solidFill>
                  <a:srgbClr val="A9B2BD"/>
                </a:solidFill>
                <a:latin typeface="Consolas"/>
                <a:cs typeface="Consolas"/>
              </a:rPr>
              <a:t>,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2F81F7"/>
                </a:solidFill>
                <a:latin typeface="Consolas"/>
                <a:cs typeface="Consolas"/>
              </a:rPr>
              <a:t>RemoteIP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order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by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Timestamp</a:t>
            </a: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sz="1150" b="0" i="0" err="1">
                <a:solidFill>
                  <a:srgbClr val="3FB950"/>
                </a:solidFill>
                <a:latin typeface="Consolas"/>
                <a:cs typeface="Consolas"/>
              </a:rPr>
              <a:t>asc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svc_sql logs on to AADCONNECT01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85149"/>
                </a:solidFill>
                <a:latin typeface="Segoe UI"/>
                <a:cs typeface="Segoe UI"/>
              </a:rPr>
              <a:t>from WIN11-04 — into the Entra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Connect synchronization tier.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Owning the sync server bridges on-prem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AD and Entra ID. Blast radius = the tenant.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241755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132027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36699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91563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T1078.002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27248" y="5029200"/>
            <a:ext cx="106253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82112" y="5029200"/>
            <a:ext cx="95280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T1021.006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7796" y="5029200"/>
            <a:ext cx="177942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72660" y="5029200"/>
            <a:ext cx="166969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DeviceLogonEvents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21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10 // CLOUD COLLECTION &amp; EXFIL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Credential theft is not the impact. This is what actually left the tenant.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● ●  three queries · run in sequence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1">
                <a:solidFill>
                  <a:srgbClr val="8A93A0"/>
                </a:solidFill>
                <a:latin typeface="Consolas"/>
                <a:cs typeface="Consolas"/>
              </a:rPr>
              <a:t>// 1. Storage account keys listed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AzureActivity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where OperationNameValue has "LISTKEYS"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project TimeGenerated, Caller, CallerIpAddress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// 2. Bulk blob read burst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CloudStorageAggregatedEvents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| where UserAgentHeader has "azcopy"</a:t>
            </a:r>
            <a:endParaRPr sz="1150" b="0" i="0">
              <a:solidFill>
                <a:srgbClr val="3FB950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// 3. Mailbox items accessed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2F81F7"/>
                </a:solidFill>
                <a:latin typeface="Consolas"/>
                <a:cs typeface="Consolas"/>
              </a:rPr>
              <a:t>OfficeActivity | where Operation == "MailItemsAccessed"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Storage keys listed from the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attacker IP, then a bulk azcopy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read burst against the data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account, and mail read in Exchange.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Most students stop at credential access.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Impact is what left, not what was stolen.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EXFIL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47418" y="5029200"/>
            <a:ext cx="69037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02282" y="5029200"/>
            <a:ext cx="58064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T1530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5806" y="5029200"/>
            <a:ext cx="1052474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20670" y="5029200"/>
            <a:ext cx="94274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T1114.002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46296" y="5029200"/>
            <a:ext cx="1414576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01160" y="5029200"/>
            <a:ext cx="130484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AzureActivity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88889" y="5029200"/>
            <a:ext cx="1505102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43753" y="5029200"/>
            <a:ext cx="139537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OfficeActivity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22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11 // THREAT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Everything you found by hand is already an indicator. Join TI to telemetry instead of reading it in another portal.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● ●  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2596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3FB950"/>
                </a:solidFill>
                <a:latin typeface="Consolas"/>
                <a:cs typeface="Consolas"/>
              </a:rPr>
              <a:t>ThreatIntelIndicators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where ObservableValue in ("185.225.73.18",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"203.0.113.77", "cdn.update-check.example")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summarize arg_max(TimeGenerated, Confidence, Tags)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      by ObservableValue, ObservableKey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0" i="0">
                <a:solidFill>
                  <a:srgbClr val="E6EDF3"/>
                </a:solidFill>
                <a:latin typeface="Consolas"/>
                <a:cs typeface="Consolas"/>
              </a:rPr>
              <a:t>| order by Confidence desc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The attacker IP and the C2 host,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both already present as high-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confidence indicators.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1154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Threat intel is a join, not a separate portal.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Confidence and TLP should drive the response.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780897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67116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C2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5841" y="5029200"/>
            <a:ext cx="1143000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30705" y="5029200"/>
            <a:ext cx="103327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Enrichment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6857" y="5029200"/>
            <a:ext cx="213878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01721" y="5029200"/>
            <a:ext cx="202905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ThreatIntelIndicators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13655" y="5029200"/>
            <a:ext cx="328269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68519" y="5029200"/>
            <a:ext cx="218541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—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23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3FB950"/>
                </a:solidFill>
                <a:latin typeface="Consolas"/>
                <a:cs typeface="Consolas"/>
              </a:rPr>
              <a:t>&gt; ACT 12 // CORRELATE IN XDR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Twelve acts of scattered signals — now let XDR group them into one analyst-friendly case.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00200"/>
            <a:ext cx="6446520" cy="32004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709928"/>
            <a:ext cx="604418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85149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D29922"/>
                </a:solidFill>
                <a:latin typeface="Consolas"/>
                <a:cs typeface="Consolas"/>
              </a:rPr>
              <a:t>● </a:t>
            </a:r>
            <a:r>
              <a:rPr sz="1000" b="0" i="0">
                <a:solidFill>
                  <a:srgbClr val="3FB950"/>
                </a:solidFill>
                <a:latin typeface="Consolas"/>
                <a:cs typeface="Consolas"/>
              </a:rPr>
              <a:t>●  </a:t>
            </a:r>
            <a:r>
              <a:rPr sz="950" b="0" i="0">
                <a:solidFill>
                  <a:srgbClr val="8A93A0"/>
                </a:solidFill>
                <a:latin typeface="Consolas"/>
                <a:cs typeface="Consolas"/>
              </a:rPr>
              <a:t>KQL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075688"/>
            <a:ext cx="6025896" cy="11705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lang="en-US" sz="1150" dirty="0" err="1">
                <a:solidFill>
                  <a:srgbClr val="2F81F7"/>
                </a:solidFill>
                <a:latin typeface="Consolas"/>
                <a:cs typeface="Consolas"/>
              </a:rPr>
              <a:t>AlertInfo</a:t>
            </a:r>
            <a:endParaRPr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join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kind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=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inner</a:t>
            </a:r>
            <a:r>
              <a:rPr lang="en-US" sz="1150" dirty="0">
                <a:solidFill>
                  <a:srgbClr val="2F81F7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  </a:t>
            </a:r>
            <a:r>
              <a:rPr lang="en-US" sz="1150" dirty="0" err="1">
                <a:solidFill>
                  <a:srgbClr val="2F81F7"/>
                </a:solidFill>
                <a:latin typeface="Consolas"/>
                <a:cs typeface="Consolas"/>
              </a:rPr>
              <a:t>AlertEvidence</a:t>
            </a:r>
            <a:endParaRPr lang="en-US" sz="115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  <a:r>
              <a:rPr lang="en-US" sz="1150" b="0" i="0" dirty="0">
                <a:solidFill>
                  <a:srgbClr val="2F81F7"/>
                </a:solidFill>
                <a:latin typeface="Consolas"/>
                <a:cs typeface="Consolas"/>
              </a:rPr>
              <a:t> on </a:t>
            </a:r>
            <a:r>
              <a:rPr lang="en-US" sz="1150" b="0" i="0" dirty="0" err="1">
                <a:solidFill>
                  <a:srgbClr val="2F81F7"/>
                </a:solidFill>
                <a:latin typeface="Consolas"/>
                <a:cs typeface="Consolas"/>
              </a:rPr>
              <a:t>AlertId</a:t>
            </a:r>
            <a:endParaRPr lang="en-US" sz="1150" b="0" i="0" dirty="0">
              <a:solidFill>
                <a:srgbClr val="2F81F7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|</a:t>
            </a:r>
            <a:r>
              <a:rPr lang="en-US" sz="1150" dirty="0">
                <a:solidFill>
                  <a:srgbClr val="E6EDF3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where </a:t>
            </a:r>
            <a:r>
              <a:rPr lang="en-US" sz="1150" dirty="0" err="1">
                <a:solidFill>
                  <a:srgbClr val="2F81F7"/>
                </a:solidFill>
                <a:latin typeface="Consolas"/>
                <a:cs typeface="Consolas"/>
              </a:rPr>
              <a:t>AccountName</a:t>
            </a:r>
            <a:r>
              <a:rPr lang="en-US" sz="1150" dirty="0">
                <a:solidFill>
                  <a:srgbClr val="2F81F7"/>
                </a:solidFill>
                <a:latin typeface="Consolas"/>
                <a:cs typeface="Consolas"/>
              </a:rPr>
              <a:t> </a:t>
            </a:r>
            <a:r>
              <a:rPr lang="en-US" sz="1150" dirty="0">
                <a:solidFill>
                  <a:srgbClr val="3FB950"/>
                </a:solidFill>
                <a:latin typeface="Consolas"/>
                <a:cs typeface="Consolas"/>
              </a:rPr>
              <a:t>in 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(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“</a:t>
            </a:r>
            <a:r>
              <a:rPr lang="en-US" sz="1150" dirty="0" err="1">
                <a:solidFill>
                  <a:srgbClr val="D29922"/>
                </a:solidFill>
                <a:latin typeface="Consolas"/>
                <a:cs typeface="Consolas"/>
              </a:rPr>
              <a:t>victor.alvarez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”, “</a:t>
            </a:r>
            <a:r>
              <a:rPr lang="en-US" sz="1150" dirty="0" err="1">
                <a:solidFill>
                  <a:srgbClr val="D29922"/>
                </a:solidFill>
                <a:latin typeface="Consolas"/>
                <a:cs typeface="Consolas"/>
              </a:rPr>
              <a:t>svc_sql</a:t>
            </a:r>
            <a:r>
              <a:rPr lang="en-US" sz="1150" dirty="0">
                <a:solidFill>
                  <a:srgbClr val="D29922"/>
                </a:solidFill>
                <a:latin typeface="Consolas"/>
                <a:cs typeface="Consolas"/>
              </a:rPr>
              <a:t>”</a:t>
            </a:r>
            <a:r>
              <a:rPr lang="en-US" sz="1150" dirty="0">
                <a:solidFill>
                  <a:srgbClr val="A9B2BD"/>
                </a:solidFill>
                <a:latin typeface="Consolas"/>
                <a:cs typeface="Consolas"/>
              </a:rPr>
              <a:t>)</a:t>
            </a:r>
            <a:endParaRPr lang="en-US" sz="1150" dirty="0">
              <a:solidFill>
                <a:srgbClr val="2F81F7"/>
              </a:solidFill>
              <a:latin typeface="Consolas"/>
              <a:cs typeface="Consolas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endParaRPr sz="1150" b="0" i="0" dirty="0">
              <a:solidFill>
                <a:srgbClr val="D29922"/>
              </a:solidFill>
              <a:latin typeface="Consolas"/>
              <a:cs typeface="Consola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132320" y="1600200"/>
            <a:ext cx="4407408" cy="1828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51775" y="1764792"/>
            <a:ext cx="3986784" cy="1536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YOU'LL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One incident expands into every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alert — OAuth, LSASS, Kerberoast,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Mimikatz, the hybrid pivot — with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entities attached.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566160"/>
            <a:ext cx="4407408" cy="123444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5" y="3730752"/>
            <a:ext cx="3986784" cy="9246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MENTOR MOMENT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Opaque </a:t>
            </a:r>
            <a:r>
              <a:rPr sz="1150" b="0" i="0" err="1">
                <a:solidFill>
                  <a:srgbClr val="A9B2BD"/>
                </a:solidFill>
                <a:latin typeface="Segoe UI"/>
                <a:cs typeface="Segoe UI"/>
              </a:rPr>
              <a:t>AlertIds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(not “MIDNIGHT-*”) mirror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A371F7"/>
                </a:solidFill>
                <a:latin typeface="Segoe UI"/>
                <a:cs typeface="Segoe UI"/>
              </a:rPr>
              <a:t>› </a:t>
            </a:r>
            <a:r>
              <a:rPr lang="en-US" sz="1150">
                <a:solidFill>
                  <a:srgbClr val="A9B2BD"/>
                </a:solidFill>
                <a:latin typeface="Segoe UI"/>
                <a:cs typeface="Segoe UI"/>
              </a:rPr>
              <a:t>Real</a:t>
            </a: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 SOC conditions. Join = the full story.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en-US" sz="1200" b="1">
                <a:solidFill>
                  <a:srgbClr val="A371F7"/>
                </a:solidFill>
                <a:latin typeface="Segoe UI"/>
                <a:cs typeface="Segoe UI"/>
              </a:rPr>
              <a:t>› </a:t>
            </a:r>
            <a:r>
              <a:rPr lang="en-US" sz="1200">
                <a:solidFill>
                  <a:srgbClr val="A9B2BD"/>
                </a:solidFill>
                <a:latin typeface="Segoe UI"/>
                <a:cs typeface="Segoe UI"/>
              </a:rPr>
              <a:t>Predictive Shielding – Attack Disruption / Containment</a:t>
            </a:r>
            <a:endParaRPr lang="en-US" sz="1200">
              <a:solidFill>
                <a:srgbClr val="A9B2BD"/>
              </a:solidFill>
              <a:latin typeface="Segoe UI"/>
              <a:ea typeface="Calibri"/>
              <a:cs typeface="Segoe U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66928" y="5029200"/>
            <a:ext cx="1420977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5029200"/>
            <a:ext cx="131124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3FB950"/>
                </a:solidFill>
                <a:latin typeface="Consolas"/>
                <a:cs typeface="Consolas"/>
              </a:rPr>
              <a:t>KC: CORRELATE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15921" y="5029200"/>
            <a:ext cx="97292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170785" y="5029200"/>
            <a:ext cx="86319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2F81F7"/>
                </a:solidFill>
                <a:latin typeface="Consolas"/>
                <a:cs typeface="Consolas"/>
              </a:rPr>
              <a:t>Multiple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16859" y="5029200"/>
            <a:ext cx="1689811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71723" y="5029200"/>
            <a:ext cx="1580083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SecurityIncident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34686" y="5029200"/>
            <a:ext cx="1420977" cy="310896"/>
          </a:xfrm>
          <a:prstGeom prst="roundRect">
            <a:avLst>
              <a:gd name="adj" fmla="val 8000"/>
            </a:avLst>
          </a:prstGeom>
          <a:solidFill>
            <a:srgbClr val="1C222B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89550" y="5029200"/>
            <a:ext cx="1311249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D29922"/>
                </a:solidFill>
                <a:latin typeface="Consolas"/>
                <a:cs typeface="Consolas"/>
              </a:rPr>
              <a:t>AlertEvidence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24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THE </a:t>
            </a:r>
            <a:r>
              <a:rPr lang="en-US" sz="3000" b="1" dirty="0">
                <a:solidFill>
                  <a:srgbClr val="E6EDF3"/>
                </a:solidFill>
                <a:latin typeface="Consolas"/>
                <a:cs typeface="Consolas"/>
              </a:rPr>
              <a:t>ANATOMY OF ATTACK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90279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Every signal in order, relative to the intrusion anchor T — absolute times shift on every regeneration.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45920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164592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81F7"/>
                </a:solidFill>
                <a:latin typeface="Consolas"/>
                <a:cs typeface="Consolas"/>
              </a:rPr>
              <a:t>T-44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80033"/>
            <a:ext cx="2697198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Lure clicked from 185.225.73.18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57052" y="1905685"/>
            <a:ext cx="4030415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Safe Links allowed the click 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645920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F81F7"/>
                </a:solidFill>
                <a:latin typeface="Consolas"/>
                <a:cs typeface="Consolas"/>
              </a:rPr>
              <a:t>T1566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18004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31800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T-38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18004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Device code redeemed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318004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Real MFA satisfied · unmanaged, non-compliant device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318004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371F7"/>
                </a:solidFill>
                <a:latin typeface="Consolas"/>
                <a:cs typeface="Consolas"/>
              </a:rPr>
              <a:t>T1078.004 · T1550.001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90088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2990088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371F7"/>
                </a:solidFill>
                <a:latin typeface="Consolas"/>
                <a:cs typeface="Consolas"/>
              </a:rPr>
              <a:t>T-30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990088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ZAP quarantines the 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990088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Too late — the token was already issued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990088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A371F7"/>
                </a:solidFill>
                <a:latin typeface="Consolas"/>
                <a:cs typeface="Consolas"/>
              </a:rPr>
              <a:t>Response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62172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" y="3662172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T+6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3662172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OAuth service-principal 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3662172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USAG Cyber Sync Helper consented + credentialed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662172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T1528 · T1098.001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334256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4334256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T+35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4334256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Kerberoasting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4334256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SPN enumeration, then a service-ticket burst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4334256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T1558.003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006340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3232" y="500634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85149"/>
                </a:solidFill>
                <a:latin typeface="Consolas"/>
                <a:cs typeface="Consolas"/>
              </a:rPr>
              <a:t>T+50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006340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LSASS dump through Mimikatz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06440" y="5006340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procdump, LaZagne, gsecdump under \wrstage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5006340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85149"/>
                </a:solidFill>
                <a:latin typeface="Consolas"/>
                <a:cs typeface="Consolas"/>
              </a:rPr>
              <a:t>T1003.001 · T1555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678424"/>
            <a:ext cx="10972800" cy="603504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3232" y="567842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D29922"/>
                </a:solidFill>
                <a:latin typeface="Consolas"/>
                <a:cs typeface="Consolas"/>
              </a:rPr>
              <a:t>T+82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5678424"/>
            <a:ext cx="39319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6EDF3"/>
                </a:solidFill>
                <a:latin typeface="Segoe UI"/>
                <a:cs typeface="Segoe UI"/>
              </a:rPr>
              <a:t>Hybrid pivot and cloud exfiltration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06440" y="5678424"/>
            <a:ext cx="40233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svc_sql → AADCONNECT01, storage keys, azcopy, mail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5678424"/>
            <a:ext cx="16916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D29922"/>
                </a:solidFill>
                <a:latin typeface="Consolas"/>
                <a:cs typeface="Consolas"/>
              </a:rPr>
              <a:t>T1078.002 · T1530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3A79B5E-C178-5539-FAC7-978754239302}"/>
              </a:ext>
            </a:extLst>
          </p:cNvPr>
          <p:cNvSpPr/>
          <p:nvPr/>
        </p:nvSpPr>
        <p:spPr>
          <a:xfrm>
            <a:off x="573984" y="1095588"/>
            <a:ext cx="10986911" cy="497671"/>
          </a:xfrm>
          <a:prstGeom prst="rect">
            <a:avLst/>
          </a:prstGeom>
          <a:solidFill>
            <a:srgbClr val="161B22"/>
          </a:solidFill>
          <a:ln w="9525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FD4B77-3035-321C-9544-EA9161B002EB}"/>
              </a:ext>
            </a:extLst>
          </p:cNvPr>
          <p:cNvSpPr txBox="1"/>
          <p:nvPr/>
        </p:nvSpPr>
        <p:spPr>
          <a:xfrm>
            <a:off x="713232" y="1197895"/>
            <a:ext cx="96012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400" b="1">
                <a:solidFill>
                  <a:srgbClr val="2F81F7"/>
                </a:solidFill>
                <a:latin typeface="Consolas"/>
                <a:cs typeface="Consolas"/>
              </a:rPr>
              <a:t>T-49</a:t>
            </a:r>
            <a:endParaRPr sz="1400" b="1" i="0">
              <a:solidFill>
                <a:srgbClr val="2F81F7"/>
              </a:solidFill>
              <a:latin typeface="Consolas"/>
              <a:cs typeface="Consolas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6A3159-806A-E3F8-8CF0-E4BF6EC4618E}"/>
              </a:ext>
            </a:extLst>
          </p:cNvPr>
          <p:cNvSpPr txBox="1"/>
          <p:nvPr/>
        </p:nvSpPr>
        <p:spPr>
          <a:xfrm>
            <a:off x="1828799" y="1209755"/>
            <a:ext cx="3621475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lang="en-US" sz="1200" b="1">
                <a:solidFill>
                  <a:srgbClr val="E6EDF3"/>
                </a:solidFill>
                <a:latin typeface="Segoe UI"/>
                <a:cs typeface="Segoe UI"/>
              </a:rPr>
              <a:t>Device-code phishing email delivered</a:t>
            </a:r>
            <a:endParaRPr sz="1200" b="1" i="0">
              <a:solidFill>
                <a:srgbClr val="E6EDF3"/>
              </a:solidFill>
              <a:latin typeface="Segoe UI"/>
              <a:cs typeface="Segoe UI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FE1610-7E8B-F004-39D7-14EA88CE47E9}"/>
              </a:ext>
            </a:extLst>
          </p:cNvPr>
          <p:cNvSpPr txBox="1"/>
          <p:nvPr/>
        </p:nvSpPr>
        <p:spPr>
          <a:xfrm>
            <a:off x="5757052" y="1189894"/>
            <a:ext cx="4030415" cy="3231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200"/>
              </a:spcAft>
            </a:pPr>
            <a:r>
              <a:rPr sz="1050" b="0" i="0">
                <a:solidFill>
                  <a:srgbClr val="A9B2BD"/>
                </a:solidFill>
                <a:latin typeface="Segoe UI"/>
                <a:cs typeface="Segoe UI"/>
              </a:rPr>
              <a:t>Lure carries the genuine microsoft.com/devicelogin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DEC2C9-1424-1EFA-2A64-95C945F9B64D}"/>
              </a:ext>
            </a:extLst>
          </p:cNvPr>
          <p:cNvSpPr txBox="1"/>
          <p:nvPr/>
        </p:nvSpPr>
        <p:spPr>
          <a:xfrm>
            <a:off x="9812302" y="1211353"/>
            <a:ext cx="1663418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F81F7"/>
                </a:solidFill>
                <a:latin typeface="Consolas"/>
                <a:cs typeface="Consolas"/>
              </a:rPr>
              <a:t>T1566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THE FULL </a:t>
            </a:r>
            <a:r>
              <a:rPr lang="en-US" sz="3000" b="1" i="0" dirty="0">
                <a:solidFill>
                  <a:srgbClr val="E6EDF3"/>
                </a:solidFill>
                <a:latin typeface="Consolas"/>
                <a:cs typeface="Consolas"/>
              </a:rPr>
              <a:t>CYBER 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KILL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832" y="827532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dirty="0">
                <a:solidFill>
                  <a:srgbClr val="A9B2BD"/>
                </a:solidFill>
                <a:latin typeface="Segoe UI"/>
                <a:cs typeface="Segoe UI"/>
              </a:rPr>
              <a:t>Every stage of this intrusion, end to end.</a:t>
            </a:r>
          </a:p>
        </p:txBody>
      </p:sp>
      <p:pic>
        <p:nvPicPr>
          <p:cNvPr id="5" name="Picture 4" descr="image (2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369" y="1021643"/>
            <a:ext cx="8577695" cy="55539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25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6424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 dirty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lang="en-US" sz="3000" b="1" i="0" dirty="0">
                <a:solidFill>
                  <a:srgbClr val="E6EDF3"/>
                </a:solidFill>
                <a:latin typeface="Consolas"/>
                <a:cs typeface="Consolas"/>
              </a:rPr>
              <a:t>DEFENDER X</a:t>
            </a:r>
            <a:r>
              <a:rPr sz="3000" b="1" i="0" dirty="0">
                <a:solidFill>
                  <a:srgbClr val="E6EDF3"/>
                </a:solidFill>
                <a:latin typeface="Consolas"/>
                <a:cs typeface="Consolas"/>
              </a:rPr>
              <a:t>DR CORRELATION</a:t>
            </a:r>
          </a:p>
        </p:txBody>
      </p:sp>
      <p:pic>
        <p:nvPicPr>
          <p:cNvPr id="5" name="Picture 4" descr="image (3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036" y="820882"/>
            <a:ext cx="7850332" cy="57262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26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27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DEBRIEF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Close the loop — turn what we saw into what we'd keep. Discuss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WHAT TELEMETRY WAS DECISIVE?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EmailEvents + UrlClickEvents — the delivery nobody saw.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EntraIdSignInEvents — separated the twin from the attack.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CloudAppEvents — caught the OAuth backdoor.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3FB950"/>
                </a:solidFill>
                <a:latin typeface="Segoe UI"/>
                <a:cs typeface="Segoe UI"/>
              </a:rPr>
              <a:t>› AzureActivity — proved data actually left.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98848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WHAT DETECTIONS WOULD YOU KEEP?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Device code from a non-compliant, unmanaged device.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Risky sign-in + new OAuth consent, correlated.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SP credential add on a freshly consented app.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F81F7"/>
                </a:solidFill>
                <a:latin typeface="Segoe UI"/>
                <a:cs typeface="Segoe UI"/>
              </a:rPr>
              <a:t>› Storage key listing followed by a bulk read burst.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1691640"/>
            <a:ext cx="3566160" cy="4114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93024" y="1856232"/>
            <a:ext cx="3145536" cy="38221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WHAT CONTROLS REDUCE IMPACT?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Block device-code flow via Conditional Access.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Admin consent workflow — no user OAuth consent.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Require compliant device, phishing-resistant MFA.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29922"/>
                </a:solidFill>
                <a:latin typeface="Segoe UI"/>
                <a:cs typeface="Segoe UI"/>
              </a:rPr>
              <a:t>› Tier-0 isolation for AADCONNECT01.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19088"/>
            <a:ext cx="7772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509858"/>
            <a:ext cx="1664208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28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66928" y="310896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3FB950"/>
                </a:solidFill>
                <a:latin typeface="Consolas"/>
                <a:cs typeface="Consolas"/>
              </a:rPr>
              <a:t>&gt; </a:t>
            </a:r>
            <a:r>
              <a:rPr sz="3000" b="1" i="0">
                <a:solidFill>
                  <a:srgbClr val="E6EDF3"/>
                </a:solidFill>
                <a:latin typeface="Consolas"/>
                <a:cs typeface="Consolas"/>
              </a:rPr>
              <a:t>WHERE THIS LEADS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89611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9B2BD"/>
                </a:solidFill>
                <a:latin typeface="Segoe UI"/>
                <a:cs typeface="Segoe UI"/>
              </a:rPr>
              <a:t>Today was the foundation. Reading telemetry is step one — here's the bigger picture.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352958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3108960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3FB950"/>
                </a:solidFill>
                <a:latin typeface="Consolas"/>
                <a:cs typeface="Consolas"/>
              </a:rPr>
              <a:t>DETECTION ENGINEERING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Turn each decisive query into a durable, tested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analytics rule. Version it, tune out false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positives, measure coverage against ATT&amp;CK.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3FB950"/>
                </a:solidFill>
                <a:latin typeface="Segoe UI"/>
                <a:cs typeface="Segoe UI"/>
              </a:rPr>
              <a:t>Query → detection → measurable coverage.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42816" y="1737360"/>
            <a:ext cx="352958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62272" y="1901952"/>
            <a:ext cx="3108960" cy="1366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F81F7"/>
                </a:solidFill>
                <a:latin typeface="Consolas"/>
                <a:cs typeface="Consolas"/>
              </a:rPr>
              <a:t>SOAR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Automate the response you just did by hand: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revoke sessions, disable the OAuth app,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isolate the host, open the case — in seconds,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not hours.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F81F7"/>
                </a:solidFill>
                <a:latin typeface="Segoe UI"/>
                <a:cs typeface="Segoe UI"/>
              </a:rPr>
              <a:t>Playbooks act on your detections.</a:t>
            </a: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918704" y="1737360"/>
            <a:ext cx="3621024" cy="338328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0" y="1901952"/>
            <a:ext cx="3200400" cy="3090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A371F7"/>
                </a:solidFill>
                <a:latin typeface="Consolas"/>
                <a:cs typeface="Consolas"/>
              </a:rPr>
              <a:t>ENHANCED DEFENSE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Feed it forward: threat-informed defense,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proactive hunting, purple-team validation,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9B2BD"/>
                </a:solidFill>
                <a:latin typeface="Segoe UI"/>
                <a:cs typeface="Segoe UI"/>
              </a:rPr>
              <a:t>and identity-first Zero Trust hardening.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150" b="0" i="0">
              <a:solidFill>
                <a:srgbClr val="A9B2BD"/>
              </a:solidFill>
              <a:latin typeface="Segoe UI"/>
              <a:cs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371F7"/>
                </a:solidFill>
                <a:latin typeface="Segoe UI"/>
                <a:cs typeface="Segoe UI"/>
              </a:rPr>
              <a:t>Assume breach — shrink dwell time and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A371F7"/>
                </a:solidFill>
                <a:latin typeface="Segoe UI"/>
                <a:cs typeface="Segoe UI"/>
              </a:rPr>
              <a:t>blast radius, continuously.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257800"/>
            <a:ext cx="10972800" cy="685800"/>
          </a:xfrm>
          <a:prstGeom prst="rect">
            <a:avLst/>
          </a:prstGeom>
          <a:solidFill>
            <a:srgbClr val="161B22"/>
          </a:solidFill>
          <a:ln w="1143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5422392"/>
            <a:ext cx="10552176" cy="41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D29922"/>
                </a:solidFill>
                <a:latin typeface="Consolas"/>
                <a:cs typeface="Consolas"/>
              </a:rPr>
              <a:t>THE THROUGH-LINE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Kill chain tells you WHERE the attacker is · KQL tells you WHAT the data proves · XDR tells you HOW it all connects</a:t>
            </a:r>
            <a:r>
              <a:rPr lang="en-US" sz="1150">
                <a:solidFill>
                  <a:srgbClr val="E6EDF3"/>
                </a:solidFill>
                <a:latin typeface="Segoe UI"/>
                <a:cs typeface="Segoe UI"/>
              </a:rPr>
              <a:t> and PROACTIVELY disrupts the attacker lifecycle</a:t>
            </a:r>
            <a:r>
              <a:rPr sz="1150" b="0" i="0">
                <a:solidFill>
                  <a:srgbClr val="E6EDF3"/>
                </a:solidFill>
                <a:latin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46304" cy="1714500"/>
          </a:xfrm>
          <a:prstGeom prst="rect">
            <a:avLst/>
          </a:prstGeom>
          <a:solidFill>
            <a:srgbClr val="F250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1714500"/>
            <a:ext cx="146304" cy="1714500"/>
          </a:xfrm>
          <a:prstGeom prst="rect">
            <a:avLst/>
          </a:prstGeom>
          <a:solidFill>
            <a:srgbClr val="7FB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0" y="3429000"/>
            <a:ext cx="146304" cy="1714500"/>
          </a:xfrm>
          <a:prstGeom prst="rect">
            <a:avLst/>
          </a:prstGeom>
          <a:solidFill>
            <a:srgbClr val="00A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0" y="5143500"/>
            <a:ext cx="146304" cy="1714500"/>
          </a:xfrm>
          <a:prstGeom prst="rect">
            <a:avLst/>
          </a:prstGeom>
          <a:solidFill>
            <a:srgbClr val="FF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685800"/>
            <a:ext cx="107899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600" b="1" i="0">
                <a:solidFill>
                  <a:srgbClr val="00B050"/>
                </a:solidFill>
                <a:latin typeface="Consolas"/>
                <a:cs typeface="Consolas"/>
              </a:rPr>
              <a:t>&gt;</a:t>
            </a:r>
            <a:r>
              <a:rPr sz="1600" b="1" i="0">
                <a:solidFill>
                  <a:srgbClr val="00B0F0"/>
                </a:solidFill>
                <a:latin typeface="Consolas"/>
                <a:cs typeface="Consolas"/>
              </a:rPr>
              <a:t> DEFENDERS  |  </a:t>
            </a:r>
            <a:r>
              <a:rPr lang="en-US" sz="1600" b="1" i="0">
                <a:solidFill>
                  <a:srgbClr val="00B0F0"/>
                </a:solidFill>
                <a:latin typeface="Consolas"/>
                <a:cs typeface="Consolas"/>
              </a:rPr>
              <a:t>USAG WIESBADEN CYBER SUMMIT - </a:t>
            </a:r>
            <a:r>
              <a:rPr sz="1600" b="1" i="0">
                <a:solidFill>
                  <a:srgbClr val="00B0F0"/>
                </a:solidFill>
                <a:latin typeface="Consolas"/>
                <a:cs typeface="Consolas"/>
              </a:rPr>
              <a:t>CYBER DEFENSE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60220"/>
            <a:ext cx="107899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E6EDF3"/>
                </a:solidFill>
                <a:latin typeface="Segoe UI"/>
                <a:cs typeface="Segoe U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3566160"/>
            <a:ext cx="107899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You</a:t>
            </a:r>
            <a:r>
              <a:rPr lang="en-US" sz="1600" b="0" i="0">
                <a:solidFill>
                  <a:srgbClr val="A9B2BD"/>
                </a:solidFill>
                <a:latin typeface="Segoe UI"/>
                <a:cs typeface="Segoe UI"/>
              </a:rPr>
              <a:t> observed</a:t>
            </a: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 the telemetry, </a:t>
            </a:r>
            <a:r>
              <a:rPr lang="en-US" sz="1600" b="0" i="0">
                <a:solidFill>
                  <a:srgbClr val="A9B2BD"/>
                </a:solidFill>
                <a:latin typeface="Segoe UI"/>
                <a:cs typeface="Segoe UI"/>
              </a:rPr>
              <a:t>fixed on the</a:t>
            </a:r>
            <a:r>
              <a:rPr sz="1600" b="0" i="0">
                <a:solidFill>
                  <a:srgbClr val="A9B2BD"/>
                </a:solidFill>
                <a:latin typeface="Segoe UI"/>
                <a:cs typeface="Segoe UI"/>
              </a:rPr>
              <a:t> attacker, </a:t>
            </a:r>
            <a:r>
              <a:rPr lang="en-US" sz="1600">
                <a:solidFill>
                  <a:srgbClr val="A9B2BD"/>
                </a:solidFill>
                <a:latin typeface="Segoe UI"/>
                <a:cs typeface="Segoe UI"/>
              </a:rPr>
              <a:t>severed the kill chain &amp; imposed cost on the adversary!</a:t>
            </a:r>
            <a:endParaRPr sz="1600" b="0" i="0">
              <a:solidFill>
                <a:srgbClr val="A9B2BD"/>
              </a:solidFill>
              <a:latin typeface="Segoe UI"/>
              <a:cs typeface="Segoe U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76656" y="5806440"/>
            <a:ext cx="10835640" cy="10972"/>
          </a:xfrm>
          <a:prstGeom prst="rect">
            <a:avLst/>
          </a:prstGeom>
          <a:solidFill>
            <a:srgbClr val="303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93A0"/>
                </a:solidFill>
                <a:latin typeface="Consolas"/>
                <a:cs typeface="Consolas"/>
              </a:rPr>
              <a:t>CYBER DEFENSE WORKSHOP  ·  KQL → XDR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989320"/>
            <a:ext cx="42062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b="0" i="0">
                <a:solidFill>
                  <a:srgbClr val="8A93A0"/>
                </a:solidFill>
                <a:latin typeface="Consolas"/>
                <a:cs typeface="Consolas"/>
              </a:rPr>
              <a:t>29 / 29</a:t>
            </a:r>
            <a:endParaRPr sz="900" b="0" i="0">
              <a:solidFill>
                <a:srgbClr val="8A93A0"/>
              </a:solidFill>
              <a:latin typeface="Consolas"/>
              <a:cs typeface="Consolas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A98E0BA-EEE2-ED45-A33C-92677D49D4EB}"/>
              </a:ext>
            </a:extLst>
          </p:cNvPr>
          <p:cNvGrpSpPr/>
          <p:nvPr/>
        </p:nvGrpSpPr>
        <p:grpSpPr>
          <a:xfrm>
            <a:off x="685395" y="4291155"/>
            <a:ext cx="6740066" cy="1244600"/>
            <a:chOff x="621895" y="4389932"/>
            <a:chExt cx="6740066" cy="1244600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0219CA8B-1C7E-94C5-59B3-B19E7A32B459}"/>
                </a:ext>
              </a:extLst>
            </p:cNvPr>
            <p:cNvSpPr/>
            <p:nvPr/>
          </p:nvSpPr>
          <p:spPr>
            <a:xfrm>
              <a:off x="640080" y="4389932"/>
              <a:ext cx="6721880" cy="1244600"/>
            </a:xfrm>
            <a:prstGeom prst="roundRect">
              <a:avLst/>
            </a:prstGeom>
            <a:solidFill>
              <a:srgbClr val="161B22"/>
            </a:solidFill>
            <a:ln w="9525">
              <a:solidFill>
                <a:srgbClr val="30363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580392B-EFF0-B9FD-0B2F-66B48EF1513F}"/>
                </a:ext>
              </a:extLst>
            </p:cNvPr>
            <p:cNvSpPr/>
            <p:nvPr/>
          </p:nvSpPr>
          <p:spPr>
            <a:xfrm>
              <a:off x="621895" y="4754474"/>
              <a:ext cx="6740066" cy="45719"/>
            </a:xfrm>
            <a:prstGeom prst="rect">
              <a:avLst/>
            </a:prstGeom>
            <a:solidFill>
              <a:srgbClr val="30363D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E8718F1-9845-B462-B24C-B9C2B28581A0}"/>
                </a:ext>
              </a:extLst>
            </p:cNvPr>
            <p:cNvGrpSpPr/>
            <p:nvPr/>
          </p:nvGrpSpPr>
          <p:grpSpPr>
            <a:xfrm>
              <a:off x="777240" y="4475428"/>
              <a:ext cx="495300" cy="114300"/>
              <a:chOff x="868680" y="4279900"/>
              <a:chExt cx="495300" cy="1143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F68ED34-25F6-DEA2-5A01-EB0F3F85E835}"/>
                  </a:ext>
                </a:extLst>
              </p:cNvPr>
              <p:cNvSpPr/>
              <p:nvPr/>
            </p:nvSpPr>
            <p:spPr>
              <a:xfrm>
                <a:off x="868680" y="4279900"/>
                <a:ext cx="114300" cy="114300"/>
              </a:xfrm>
              <a:prstGeom prst="rect">
                <a:avLst/>
              </a:prstGeom>
              <a:solidFill>
                <a:srgbClr val="F85149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E35B88D-276E-6A7F-C009-9140BAD5CC83}"/>
                  </a:ext>
                </a:extLst>
              </p:cNvPr>
              <p:cNvSpPr/>
              <p:nvPr/>
            </p:nvSpPr>
            <p:spPr>
              <a:xfrm>
                <a:off x="1059180" y="4279900"/>
                <a:ext cx="114300" cy="114300"/>
              </a:xfrm>
              <a:prstGeom prst="rect">
                <a:avLst/>
              </a:prstGeom>
              <a:solidFill>
                <a:srgbClr val="D29922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B67A92C-2634-1616-BBC6-AE233249A129}"/>
                  </a:ext>
                </a:extLst>
              </p:cNvPr>
              <p:cNvSpPr/>
              <p:nvPr/>
            </p:nvSpPr>
            <p:spPr>
              <a:xfrm>
                <a:off x="1249680" y="4279900"/>
                <a:ext cx="114300" cy="114300"/>
              </a:xfrm>
              <a:prstGeom prst="rect">
                <a:avLst/>
              </a:prstGeom>
              <a:solidFill>
                <a:srgbClr val="3FB950"/>
              </a:solidFill>
              <a:ln w="1905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905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845989" y="4914336"/>
            <a:ext cx="1078992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3FB950"/>
                </a:solidFill>
                <a:latin typeface="Consolas"/>
                <a:cs typeface="Consolas"/>
              </a:rPr>
              <a:t>&gt; next: turn these queries into detections</a:t>
            </a:r>
            <a:r>
              <a:rPr lang="en-US" sz="1500" b="0" i="0">
                <a:solidFill>
                  <a:srgbClr val="3FB950"/>
                </a:solidFill>
                <a:latin typeface="Consolas"/>
                <a:cs typeface="Consolas"/>
              </a:rPr>
              <a:t>!</a:t>
            </a:r>
            <a:endParaRPr sz="1500" b="0" i="0">
              <a:solidFill>
                <a:srgbClr val="3FB950"/>
              </a:solidFill>
              <a:latin typeface="Consolas"/>
              <a:cs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3915</Words>
  <Application>Microsoft Office PowerPoint</Application>
  <PresentationFormat>Widescreen</PresentationFormat>
  <Paragraphs>617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Lorenzo Ireland</dc:creator>
  <cp:keywords/>
  <dc:description>generated using python-pptx</dc:description>
  <cp:lastModifiedBy>Lorenzo Ireland</cp:lastModifiedBy>
  <cp:revision>8</cp:revision>
  <dcterms:created xsi:type="dcterms:W3CDTF">2013-01-27T09:14:16Z</dcterms:created>
  <dcterms:modified xsi:type="dcterms:W3CDTF">2026-07-25T14:09:55Z</dcterms:modified>
  <cp:category/>
</cp:coreProperties>
</file>